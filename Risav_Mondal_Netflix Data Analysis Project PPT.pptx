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9F8C6-E6C8-4F83-9E20-815B0BC7FB21}" v="78" dt="2025-10-16T05:48:45.32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Raje" userId="S::yogesh@edunetfoundation.org::9e0ba697-e1dc-452b-989f-11655901edb1" providerId="AD" clId="Web-{C5E9F8C6-E6C8-4F83-9E20-815B0BC7FB21}"/>
    <pc:docChg chg="modSld">
      <pc:chgData name="Yogesh Raje" userId="S::yogesh@edunetfoundation.org::9e0ba697-e1dc-452b-989f-11655901edb1" providerId="AD" clId="Web-{C5E9F8C6-E6C8-4F83-9E20-815B0BC7FB21}" dt="2025-10-16T05:48:45.323" v="42" actId="1076"/>
      <pc:docMkLst>
        <pc:docMk/>
      </pc:docMkLst>
      <pc:sldChg chg="addSp delSp modSp">
        <pc:chgData name="Yogesh Raje" userId="S::yogesh@edunetfoundation.org::9e0ba697-e1dc-452b-989f-11655901edb1" providerId="AD" clId="Web-{C5E9F8C6-E6C8-4F83-9E20-815B0BC7FB21}" dt="2025-10-16T05:48:10.150" v="21" actId="20577"/>
        <pc:sldMkLst>
          <pc:docMk/>
          <pc:sldMk cId="1086225493" sldId="339"/>
        </pc:sldMkLst>
        <pc:spChg chg="add mod">
          <ac:chgData name="Yogesh Raje" userId="S::yogesh@edunetfoundation.org::9e0ba697-e1dc-452b-989f-11655901edb1" providerId="AD" clId="Web-{C5E9F8C6-E6C8-4F83-9E20-815B0BC7FB21}" dt="2025-10-16T05:48:10.150" v="21" actId="20577"/>
          <ac:spMkLst>
            <pc:docMk/>
            <pc:sldMk cId="1086225493" sldId="339"/>
            <ac:spMk id="2" creationId="{62734786-4DEA-9955-BFF8-FDF1EBB84300}"/>
          </ac:spMkLst>
        </pc:spChg>
        <pc:picChg chg="del">
          <ac:chgData name="Yogesh Raje" userId="S::yogesh@edunetfoundation.org::9e0ba697-e1dc-452b-989f-11655901edb1" providerId="AD" clId="Web-{C5E9F8C6-E6C8-4F83-9E20-815B0BC7FB21}" dt="2025-10-16T05:47:45.306" v="2"/>
          <ac:picMkLst>
            <pc:docMk/>
            <pc:sldMk cId="1086225493" sldId="339"/>
            <ac:picMk id="2050" creationId="{988600BD-DEBC-1281-3D19-14E8D6996D27}"/>
          </ac:picMkLst>
        </pc:picChg>
      </pc:sldChg>
      <pc:sldChg chg="addSp delSp modSp">
        <pc:chgData name="Yogesh Raje" userId="S::yogesh@edunetfoundation.org::9e0ba697-e1dc-452b-989f-11655901edb1" providerId="AD" clId="Web-{C5E9F8C6-E6C8-4F83-9E20-815B0BC7FB21}" dt="2025-10-16T05:48:32.479" v="39" actId="20577"/>
        <pc:sldMkLst>
          <pc:docMk/>
          <pc:sldMk cId="390853083" sldId="340"/>
        </pc:sldMkLst>
        <pc:spChg chg="add mod">
          <ac:chgData name="Yogesh Raje" userId="S::yogesh@edunetfoundation.org::9e0ba697-e1dc-452b-989f-11655901edb1" providerId="AD" clId="Web-{C5E9F8C6-E6C8-4F83-9E20-815B0BC7FB21}" dt="2025-10-16T05:48:32.479" v="39" actId="20577"/>
          <ac:spMkLst>
            <pc:docMk/>
            <pc:sldMk cId="390853083" sldId="340"/>
            <ac:spMk id="2" creationId="{A36EB5C4-B334-C562-399B-4AC61818DAC5}"/>
          </ac:spMkLst>
        </pc:spChg>
        <pc:picChg chg="del">
          <ac:chgData name="Yogesh Raje" userId="S::yogesh@edunetfoundation.org::9e0ba697-e1dc-452b-989f-11655901edb1" providerId="AD" clId="Web-{C5E9F8C6-E6C8-4F83-9E20-815B0BC7FB21}" dt="2025-10-16T05:47:37.634" v="1"/>
          <ac:picMkLst>
            <pc:docMk/>
            <pc:sldMk cId="390853083" sldId="340"/>
            <ac:picMk id="3074" creationId="{EE53C000-5EF4-C7EC-E197-923501587B36}"/>
          </ac:picMkLst>
        </pc:picChg>
      </pc:sldChg>
      <pc:sldChg chg="addSp delSp modSp">
        <pc:chgData name="Yogesh Raje" userId="S::yogesh@edunetfoundation.org::9e0ba697-e1dc-452b-989f-11655901edb1" providerId="AD" clId="Web-{C5E9F8C6-E6C8-4F83-9E20-815B0BC7FB21}" dt="2025-10-16T05:48:45.323" v="42" actId="1076"/>
        <pc:sldMkLst>
          <pc:docMk/>
          <pc:sldMk cId="349846658" sldId="341"/>
        </pc:sldMkLst>
        <pc:spChg chg="add mod">
          <ac:chgData name="Yogesh Raje" userId="S::yogesh@edunetfoundation.org::9e0ba697-e1dc-452b-989f-11655901edb1" providerId="AD" clId="Web-{C5E9F8C6-E6C8-4F83-9E20-815B0BC7FB21}" dt="2025-10-16T05:48:45.323" v="42" actId="1076"/>
          <ac:spMkLst>
            <pc:docMk/>
            <pc:sldMk cId="349846658" sldId="341"/>
            <ac:spMk id="2" creationId="{B2023D69-07AE-2EBE-3CC7-8A1AD6C902BB}"/>
          </ac:spMkLst>
        </pc:spChg>
        <pc:picChg chg="del">
          <ac:chgData name="Yogesh Raje" userId="S::yogesh@edunetfoundation.org::9e0ba697-e1dc-452b-989f-11655901edb1" providerId="AD" clId="Web-{C5E9F8C6-E6C8-4F83-9E20-815B0BC7FB21}" dt="2025-10-16T05:47:34.290" v="0"/>
          <ac:picMkLst>
            <pc:docMk/>
            <pc:sldMk cId="349846658" sldId="341"/>
            <ac:picMk id="4098" creationId="{C71B5EB8-4578-9EAF-82B2-AB5B92ABE73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18-Oct-25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18-Oct-25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18-Oct-25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18-Oct-25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18-Oct-25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18-Oct-25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18-Oct-25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Risav582/VOIS_AICTE_Oct2025_MajorProject_RisavMondal-"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3400089" cy="861497"/>
          </a:xfrm>
        </p:spPr>
        <p:txBody>
          <a:bodyPr>
            <a:normAutofit fontScale="77500" lnSpcReduction="20000"/>
          </a:bodyPr>
          <a:lstStyle/>
          <a:p>
            <a:pPr algn="r"/>
            <a:r>
              <a:rPr lang="en-US" sz="2100" b="0" dirty="0">
                <a:solidFill>
                  <a:schemeClr val="tx1"/>
                </a:solidFill>
              </a:rPr>
              <a:t>Risav Mondal</a:t>
            </a:r>
          </a:p>
          <a:p>
            <a:pPr algn="r"/>
            <a:r>
              <a:rPr lang="en-US" sz="2100" b="0" dirty="0">
                <a:solidFill>
                  <a:schemeClr val="tx1"/>
                </a:solidFill>
              </a:rPr>
              <a:t>APPLY_175534069868a05f9a0468f</a:t>
            </a:r>
            <a:endParaRPr lang="en-IN" sz="2100"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a:bodyPr>
          <a:lstStyle/>
          <a:p>
            <a:r>
              <a:rPr lang="en-IN" sz="3200" dirty="0"/>
              <a:t>Netflix Project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4700" y="1914255"/>
            <a:ext cx="6431280" cy="3607987"/>
          </a:xfrm>
        </p:spPr>
        <p:txBody>
          <a:bodyPr>
            <a:normAutofit fontScale="85000" lnSpcReduction="10000"/>
          </a:bodyPr>
          <a:lstStyle/>
          <a:p>
            <a:pPr fontAlgn="base"/>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fontAlgn="base"/>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4480D71-BB98-83CB-16F7-66C0D7E45883}"/>
              </a:ext>
            </a:extLst>
          </p:cNvPr>
          <p:cNvSpPr txBox="1"/>
          <p:nvPr/>
        </p:nvSpPr>
        <p:spPr>
          <a:xfrm>
            <a:off x="532673" y="2038176"/>
            <a:ext cx="9601200" cy="3970318"/>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p>
          <a:p>
            <a:pPr>
              <a:buFont typeface="+mj-lt"/>
              <a:buAutoNum type="arabicPeriod"/>
            </a:pPr>
            <a:r>
              <a:rPr lang="en-US" b="1" dirty="0"/>
              <a:t>Identify</a:t>
            </a:r>
            <a:r>
              <a:rPr lang="en-US" dirty="0"/>
              <a:t> the most frequent genres and observe changes in their popularity.</a:t>
            </a:r>
          </a:p>
          <a:p>
            <a:pPr>
              <a:buFont typeface="+mj-lt"/>
              <a:buAutoNum type="arabicPeriod"/>
            </a:pPr>
            <a:r>
              <a:rPr lang="en-US" b="1" dirty="0"/>
              <a:t>Compare</a:t>
            </a:r>
            <a:r>
              <a:rPr lang="en-US" dirty="0"/>
              <a:t> country-wise contributions to Netflix’s content base to assess global diversity.</a:t>
            </a:r>
          </a:p>
          <a:p>
            <a:pPr>
              <a:buFont typeface="+mj-lt"/>
              <a:buAutoNum type="arabicPeriod"/>
            </a:pPr>
            <a:r>
              <a:rPr lang="en-US" b="1" dirty="0"/>
              <a:t>Provide</a:t>
            </a:r>
            <a:r>
              <a:rPr lang="en-US" dirty="0"/>
              <a:t> strategic recommendations for future content acquisition and production.</a:t>
            </a:r>
          </a:p>
          <a:p>
            <a:pPr>
              <a:buNone/>
            </a:pPr>
            <a:br>
              <a:rPr lang="en-US" dirty="0"/>
            </a:br>
            <a:endParaRPr lang="en-US" dirty="0"/>
          </a:p>
          <a:p>
            <a:pPr>
              <a:buNone/>
            </a:pPr>
            <a:r>
              <a:rPr lang="en-US" b="1" dirty="0"/>
              <a:t>Significance of the Study</a:t>
            </a:r>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p>
          <a:p>
            <a:pPr>
              <a:buFont typeface="Arial" panose="020B0604020202020204" pitchFamily="34" charset="0"/>
              <a:buChar char="•"/>
            </a:pPr>
            <a:r>
              <a:rPr lang="en-US" dirty="0"/>
              <a:t>Enhancing </a:t>
            </a:r>
            <a:r>
              <a:rPr lang="en-US" b="1" dirty="0"/>
              <a:t>content strategy</a:t>
            </a:r>
            <a:r>
              <a:rPr lang="en-US" dirty="0"/>
              <a:t> and balancing global vs. local productions.</a:t>
            </a:r>
          </a:p>
          <a:p>
            <a:pPr>
              <a:buFont typeface="Arial" panose="020B0604020202020204" pitchFamily="34" charset="0"/>
              <a:buChar char="•"/>
            </a:pPr>
            <a:r>
              <a:rPr lang="en-US" dirty="0"/>
              <a:t>Recognizing </a:t>
            </a:r>
            <a:r>
              <a:rPr lang="en-US" b="1" dirty="0"/>
              <a:t>market trends</a:t>
            </a:r>
            <a:r>
              <a:rPr lang="en-US" dirty="0"/>
              <a:t> and regional viewer interests.</a:t>
            </a:r>
          </a:p>
          <a:p>
            <a:pPr>
              <a:buFont typeface="Arial" panose="020B0604020202020204" pitchFamily="34" charset="0"/>
              <a:buChar char="•"/>
            </a:pPr>
            <a:r>
              <a:rPr lang="en-US" dirty="0"/>
              <a:t>Supporting </a:t>
            </a:r>
            <a:r>
              <a:rPr lang="en-US" b="1" dirty="0"/>
              <a:t>strategic investments</a:t>
            </a:r>
            <a:r>
              <a:rPr lang="en-US" dirty="0"/>
              <a:t> in specific content types and countries.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A488652-DC56-EC26-5F31-ED7CB8D4D27A}"/>
              </a:ext>
            </a:extLst>
          </p:cNvPr>
          <p:cNvSpPr>
            <a:spLocks noGrp="1" noChangeArrowheads="1"/>
          </p:cNvSpPr>
          <p:nvPr>
            <p:ph type="body" sz="quarter" idx="12"/>
          </p:nvPr>
        </p:nvSpPr>
        <p:spPr bwMode="auto">
          <a:xfrm>
            <a:off x="543443" y="2213310"/>
            <a:ext cx="82926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1886" y="1246961"/>
            <a:ext cx="9027702" cy="5243448"/>
          </a:xfrm>
        </p:spPr>
        <p:txBody>
          <a:bodyPr/>
          <a:lstStyle/>
          <a:p>
            <a:pPr lvl="1">
              <a:lnSpc>
                <a:spcPct val="150000"/>
              </a:lnSpc>
            </a:pPr>
            <a:r>
              <a:rPr lang="en-IN" dirty="0"/>
              <a:t>Python</a:t>
            </a:r>
          </a:p>
          <a:p>
            <a:pPr lvl="1">
              <a:lnSpc>
                <a:spcPct val="150000"/>
              </a:lnSpc>
            </a:pPr>
            <a:r>
              <a:rPr lang="en-IN" dirty="0" err="1"/>
              <a:t>Jupyter</a:t>
            </a:r>
            <a:r>
              <a:rPr lang="en-IN" dirty="0"/>
              <a:t> Notebook</a:t>
            </a:r>
          </a:p>
          <a:p>
            <a:pPr lvl="1">
              <a:lnSpc>
                <a:spcPct val="150000"/>
              </a:lnSpc>
            </a:pPr>
            <a:r>
              <a:rPr lang="en-IN" dirty="0"/>
              <a:t>Google </a:t>
            </a:r>
            <a:r>
              <a:rPr lang="en-IN" dirty="0" err="1"/>
              <a:t>colab</a:t>
            </a:r>
            <a:endParaRPr lang="en-IN" dirty="0"/>
          </a:p>
          <a:p>
            <a:pPr lvl="1">
              <a:lnSpc>
                <a:spcPct val="150000"/>
              </a:lnSpc>
            </a:pPr>
            <a:r>
              <a:rPr lang="en-IN" dirty="0"/>
              <a:t>Matplotlib</a:t>
            </a:r>
          </a:p>
          <a:p>
            <a:pPr lvl="1">
              <a:lnSpc>
                <a:spcPct val="150000"/>
              </a:lnSpc>
            </a:pPr>
            <a:r>
              <a:rPr lang="en-IN" dirty="0" err="1"/>
              <a:t>numpy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3563C18E-096C-FBBD-8249-5F0BABF01D3E}"/>
              </a:ext>
            </a:extLst>
          </p:cNvPr>
          <p:cNvPicPr>
            <a:picLocks noChangeAspect="1"/>
          </p:cNvPicPr>
          <p:nvPr/>
        </p:nvPicPr>
        <p:blipFill>
          <a:blip r:embed="rId3"/>
          <a:stretch>
            <a:fillRect/>
          </a:stretch>
        </p:blipFill>
        <p:spPr>
          <a:xfrm>
            <a:off x="320982" y="1470039"/>
            <a:ext cx="8939463" cy="4342931"/>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3290AEC-FAB6-E543-64CA-BB5C19A4AD66}"/>
              </a:ext>
            </a:extLst>
          </p:cNvPr>
          <p:cNvPicPr>
            <a:picLocks noChangeAspect="1"/>
          </p:cNvPicPr>
          <p:nvPr/>
        </p:nvPicPr>
        <p:blipFill>
          <a:blip r:embed="rId3"/>
          <a:stretch>
            <a:fillRect/>
          </a:stretch>
        </p:blipFill>
        <p:spPr>
          <a:xfrm>
            <a:off x="544395" y="1358795"/>
            <a:ext cx="7983064" cy="5306165"/>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E9C54F75-2872-4200-A94C-C2A7F30E2027}"/>
              </a:ext>
            </a:extLst>
          </p:cNvPr>
          <p:cNvPicPr>
            <a:picLocks noChangeAspect="1"/>
          </p:cNvPicPr>
          <p:nvPr/>
        </p:nvPicPr>
        <p:blipFill>
          <a:blip r:embed="rId3"/>
          <a:stretch>
            <a:fillRect/>
          </a:stretch>
        </p:blipFill>
        <p:spPr>
          <a:xfrm>
            <a:off x="802230" y="1092991"/>
            <a:ext cx="8453737" cy="4672017"/>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06106"/>
            <a:ext cx="5984161" cy="2579557"/>
          </a:xfrm>
        </p:spPr>
        <p:txBody>
          <a:bodyPr vert="horz" lIns="91440" tIns="45720" rIns="91440" bIns="45720" rtlCol="0" anchor="t">
            <a:normAutofit/>
          </a:bodyPr>
          <a:lstStyle/>
          <a:p>
            <a:pPr marL="0" indent="0">
              <a:buNone/>
            </a:pPr>
            <a:r>
              <a:rPr lang="en-US" dirty="0">
                <a:hlinkClick r:id="rId3"/>
              </a:rPr>
              <a:t>https://github.com/Risav582/VOIS_AICTE_Oct2025_MajorProject_RisavMondal-</a:t>
            </a:r>
            <a:endParaRPr lang="en-US" dirty="0"/>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422496" y="1269585"/>
            <a:ext cx="4275138" cy="477520"/>
          </a:xfrm>
        </p:spPr>
        <p:txBody>
          <a:bodyPr/>
          <a:lstStyle/>
          <a:p>
            <a:pPr marL="0" indent="0">
              <a:buNone/>
            </a:pPr>
            <a:endParaRPr lang="en-IN" dirty="0"/>
          </a:p>
        </p:txBody>
      </p:sp>
      <p:pic>
        <p:nvPicPr>
          <p:cNvPr id="2" name="Picture 1">
            <a:extLst>
              <a:ext uri="{FF2B5EF4-FFF2-40B4-BE49-F238E27FC236}">
                <a16:creationId xmlns:a16="http://schemas.microsoft.com/office/drawing/2014/main" id="{F0F7BECB-4B9B-4774-63AA-3E2C41C81DA9}"/>
              </a:ext>
            </a:extLst>
          </p:cNvPr>
          <p:cNvPicPr>
            <a:picLocks noChangeAspect="1"/>
          </p:cNvPicPr>
          <p:nvPr/>
        </p:nvPicPr>
        <p:blipFill>
          <a:blip r:embed="rId3"/>
          <a:stretch>
            <a:fillRect/>
          </a:stretch>
        </p:blipFill>
        <p:spPr>
          <a:xfrm>
            <a:off x="393794" y="1184787"/>
            <a:ext cx="7903799" cy="5592140"/>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endParaRPr lang="en-IN" dirty="0"/>
          </a:p>
        </p:txBody>
      </p:sp>
      <p:pic>
        <p:nvPicPr>
          <p:cNvPr id="2" name="Picture 1">
            <a:extLst>
              <a:ext uri="{FF2B5EF4-FFF2-40B4-BE49-F238E27FC236}">
                <a16:creationId xmlns:a16="http://schemas.microsoft.com/office/drawing/2014/main" id="{93367762-0912-BAAD-9BD7-1971A07052FD}"/>
              </a:ext>
            </a:extLst>
          </p:cNvPr>
          <p:cNvPicPr>
            <a:picLocks noChangeAspect="1"/>
          </p:cNvPicPr>
          <p:nvPr/>
        </p:nvPicPr>
        <p:blipFill>
          <a:blip r:embed="rId3"/>
          <a:stretch>
            <a:fillRect/>
          </a:stretch>
        </p:blipFill>
        <p:spPr>
          <a:xfrm>
            <a:off x="833043" y="1081926"/>
            <a:ext cx="7754509" cy="5486514"/>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636</TotalTime>
  <Words>363</Words>
  <Application>Microsoft Office PowerPoint</Application>
  <PresentationFormat>Widescreen</PresentationFormat>
  <Paragraphs>41</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Netflix Project Analysis</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Risav Mondal</cp:lastModifiedBy>
  <cp:revision>117</cp:revision>
  <dcterms:created xsi:type="dcterms:W3CDTF">2021-07-11T13:13:15Z</dcterms:created>
  <dcterms:modified xsi:type="dcterms:W3CDTF">2025-10-18T10:50:55Z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